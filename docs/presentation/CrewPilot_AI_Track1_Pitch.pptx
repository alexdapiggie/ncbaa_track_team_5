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55C8E0"/>
                </a:solidFill>
                <a:latin typeface="Aptos"/>
              </a:rPr>
              <a:t>SPARTHILL HACKS  /  NCBAA  /  TRACK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9EB1C1"/>
                </a:solidFill>
                <a:latin typeface="Aptos"/>
              </a:rPr>
              <a:t>THE INTELLIGENT FBO  · 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55C8E0"/>
                </a:solidFill>
                <a:latin typeface="Aptos"/>
              </a:rPr>
              <a:t>CREWPILOT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64922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5F8FA"/>
                </a:solidFill>
                <a:latin typeface="Aptos Display"/>
              </a:rPr>
              <a:t>Staff the rush.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87168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E8A23B"/>
                </a:solidFill>
                <a:latin typeface="Aptos Display"/>
              </a:rPr>
              <a:t>Keep decisions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D0DCE5"/>
                </a:solidFill>
                <a:latin typeface="Aptos"/>
              </a:rPr>
              <a:t>Seven-day FBO staffing under event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5">
                <a:solidFill>
                  <a:srgbClr val="9EB1C1"/>
                </a:solidFill>
                <a:latin typeface="Aptos"/>
              </a:rPr>
              <a:t>STAFFING PLANNING PROTOTYPE  ·  SYNTHETIC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1133856"/>
            <a:ext cx="3657600" cy="443484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44475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9EB1C1"/>
                </a:solidFill>
                <a:latin typeface="Aptos"/>
              </a:rPr>
              <a:t>24-HOUR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1783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8FA"/>
                </a:solidFill>
                <a:latin typeface="Aptos Display"/>
              </a:rPr>
              <a:t>Three fixed shifts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11312" y="2487168"/>
            <a:ext cx="0" cy="2478024"/>
          </a:xfrm>
          <a:prstGeom prst="line">
            <a:avLst/>
          </a:prstGeom>
          <a:ln w="1270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10144" y="22311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0952" y="2487168"/>
            <a:ext cx="0" cy="2478024"/>
          </a:xfrm>
          <a:prstGeom prst="line">
            <a:avLst/>
          </a:prstGeom>
          <a:ln w="1270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39783" y="22311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70592" y="2487168"/>
            <a:ext cx="0" cy="2478024"/>
          </a:xfrm>
          <a:prstGeom prst="line">
            <a:avLst/>
          </a:prstGeom>
          <a:ln w="1270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869424" y="22311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16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000232" y="2487168"/>
            <a:ext cx="0" cy="2478024"/>
          </a:xfrm>
          <a:prstGeom prst="line">
            <a:avLst/>
          </a:prstGeom>
          <a:ln w="1270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99063" y="22311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86207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9EB1C1"/>
                </a:solidFill>
                <a:latin typeface="Aptos"/>
              </a:rPr>
              <a:t>RAMP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2834640"/>
            <a:ext cx="856488" cy="310896"/>
          </a:xfrm>
          <a:prstGeom prst="roundRect">
            <a:avLst/>
          </a:prstGeom>
          <a:solidFill>
            <a:srgbClr val="55C8E0"/>
          </a:solidFill>
          <a:ln w="10160"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7527" y="2834640"/>
            <a:ext cx="856488" cy="310896"/>
          </a:xfrm>
          <a:prstGeom prst="roundRect">
            <a:avLst/>
          </a:prstGeom>
          <a:solidFill>
            <a:srgbClr val="55C8E0"/>
          </a:solidFill>
          <a:ln w="10160"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07168" y="2834640"/>
            <a:ext cx="856488" cy="310896"/>
          </a:xfrm>
          <a:prstGeom prst="roundRect">
            <a:avLst/>
          </a:prstGeom>
          <a:solidFill>
            <a:srgbClr val="55C8E0"/>
          </a:solidFill>
          <a:ln w="10160"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345643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9EB1C1"/>
                </a:solidFill>
                <a:latin typeface="Aptos"/>
              </a:rPr>
              <a:t>FUEL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429000"/>
            <a:ext cx="856488" cy="310896"/>
          </a:xfrm>
          <a:prstGeom prst="roundRect">
            <a:avLst/>
          </a:prstGeom>
          <a:solidFill>
            <a:srgbClr val="E8A23B"/>
          </a:solidFill>
          <a:ln w="10160"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77527" y="3429000"/>
            <a:ext cx="856488" cy="310896"/>
          </a:xfrm>
          <a:prstGeom prst="roundRect">
            <a:avLst/>
          </a:prstGeom>
          <a:solidFill>
            <a:srgbClr val="E8A23B"/>
          </a:solidFill>
          <a:ln w="10160"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07168" y="3429000"/>
            <a:ext cx="856488" cy="310896"/>
          </a:xfrm>
          <a:prstGeom prst="roundRect">
            <a:avLst/>
          </a:prstGeom>
          <a:solidFill>
            <a:srgbClr val="E8A23B"/>
          </a:solidFill>
          <a:ln w="10160"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405079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9EB1C1"/>
                </a:solidFill>
                <a:latin typeface="Aptos"/>
              </a:rPr>
              <a:t>CUSTOMER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4023360"/>
            <a:ext cx="856488" cy="310896"/>
          </a:xfrm>
          <a:prstGeom prst="roundRect">
            <a:avLst/>
          </a:prstGeom>
          <a:solidFill>
            <a:srgbClr val="65C89D"/>
          </a:solidFill>
          <a:ln w="10160"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77527" y="4023360"/>
            <a:ext cx="856488" cy="310896"/>
          </a:xfrm>
          <a:prstGeom prst="roundRect">
            <a:avLst/>
          </a:prstGeom>
          <a:solidFill>
            <a:srgbClr val="65C89D"/>
          </a:solidFill>
          <a:ln w="10160"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7168" y="4023360"/>
            <a:ext cx="856488" cy="310896"/>
          </a:xfrm>
          <a:prstGeom prst="roundRect">
            <a:avLst/>
          </a:prstGeom>
          <a:solidFill>
            <a:srgbClr val="65C89D"/>
          </a:solidFill>
          <a:ln w="10160"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51937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EB1C1"/>
                </a:solidFill>
                <a:latin typeface="Aptos"/>
              </a:rPr>
              <a:t>00–08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51937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EB1C1"/>
                </a:solidFill>
                <a:latin typeface="Aptos"/>
              </a:rPr>
              <a:t>08–16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5193792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EB1C1"/>
                </a:solidFill>
                <a:latin typeface="Aptos"/>
              </a:rPr>
              <a:t>16–24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087E9C"/>
                </a:solidFill>
                <a:latin typeface="Aptos"/>
              </a:rPr>
              <a:t>01  /  THE OPERATIONAL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3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60798D"/>
                </a:solidFill>
                <a:latin typeface="Aptos"/>
              </a:rPr>
              <a:t>THE INTELLIGENT FBO  · 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02233"/>
                </a:solidFill>
                <a:latin typeface="Aptos Display"/>
              </a:rPr>
              <a:t>One arrival can trigger several jobs.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798D"/>
                </a:solidFill>
                <a:latin typeface="Aptos"/>
              </a:rPr>
              <a:t>Overlapping work needs qualified coverage by role.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331720" cy="1152144"/>
          </a:xfrm>
          <a:prstGeom prst="roundRect">
            <a:avLst/>
          </a:prstGeom>
          <a:solidFill>
            <a:srgbClr val="102233"/>
          </a:solidFill>
          <a:ln w="10160">
            <a:solidFill>
              <a:srgbClr val="10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55C8E0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06624"/>
            <a:ext cx="18288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5F8FA"/>
                </a:solidFill>
                <a:latin typeface="Aptos Display"/>
              </a:rPr>
              <a:t>Aircraft 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9067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3D1DB"/>
                </a:solidFill>
                <a:latin typeface="Aptos"/>
              </a:rPr>
              <a:t>ETA + service 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27248" y="2788920"/>
            <a:ext cx="621791" cy="0"/>
          </a:xfrm>
          <a:prstGeom prst="line">
            <a:avLst/>
          </a:prstGeom>
          <a:ln w="27940">
            <a:solidFill>
              <a:srgbClr val="087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639312" y="2688336"/>
            <a:ext cx="201168" cy="201168"/>
          </a:xfrm>
          <a:prstGeom prst="ellipse">
            <a:avLst/>
          </a:prstGeom>
          <a:solidFill>
            <a:srgbClr val="087E9C"/>
          </a:solidFill>
          <a:ln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41648" y="2194560"/>
            <a:ext cx="2267712" cy="120700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41648" y="2194560"/>
            <a:ext cx="73152" cy="1207008"/>
          </a:xfrm>
          <a:prstGeom prst="rect">
            <a:avLst/>
          </a:prstGeom>
          <a:solidFill>
            <a:srgbClr val="087E9C"/>
          </a:solidFill>
          <a:ln w="10160"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4048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087E9C"/>
                </a:solidFill>
                <a:latin typeface="Aptos"/>
              </a:rPr>
              <a:t>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697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233"/>
                </a:solidFill>
                <a:latin typeface="Aptos Display"/>
              </a:rPr>
              <a:t>2 crew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72491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0798D"/>
                </a:solidFill>
                <a:latin typeface="Aptos"/>
              </a:rPr>
              <a:t>35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2194560"/>
            <a:ext cx="2267712" cy="120700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56248" y="2194560"/>
            <a:ext cx="73152" cy="1207008"/>
          </a:xfrm>
          <a:prstGeom prst="rect">
            <a:avLst/>
          </a:prstGeom>
          <a:solidFill>
            <a:srgbClr val="86530B"/>
          </a:solidFill>
          <a:ln w="10160">
            <a:solidFill>
              <a:srgbClr val="8653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4048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86530B"/>
                </a:solidFill>
                <a:latin typeface="Aptos"/>
              </a:rPr>
              <a:t>FUEL · IF REQUESTED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697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233"/>
                </a:solidFill>
                <a:latin typeface="Aptos Display"/>
              </a:rPr>
              <a:t>1 crew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272491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0798D"/>
                </a:solidFill>
                <a:latin typeface="Aptos"/>
              </a:rPr>
              <a:t>40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0848" y="2194560"/>
            <a:ext cx="2267712" cy="120700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0848" y="2194560"/>
            <a:ext cx="73152" cy="1207008"/>
          </a:xfrm>
          <a:prstGeom prst="rect">
            <a:avLst/>
          </a:prstGeom>
          <a:solidFill>
            <a:srgbClr val="25734E"/>
          </a:solidFill>
          <a:ln w="10160"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4048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25734E"/>
                </a:solidFill>
                <a:latin typeface="Aptos"/>
              </a:rPr>
              <a:t>CUSTOMER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697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02233"/>
                </a:solidFill>
                <a:latin typeface="Aptos Display"/>
              </a:rPr>
              <a:t>1 crew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72491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0798D"/>
                </a:solidFill>
                <a:latin typeface="Aptos"/>
              </a:rPr>
              <a:t>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767328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40">
                <a:solidFill>
                  <a:srgbClr val="60798D"/>
                </a:solidFill>
                <a:latin typeface="Aptos"/>
              </a:rPr>
              <a:t>EARLIEST START + DURATION · MIN AFTER 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105656"/>
            <a:ext cx="117043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Customer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096512"/>
            <a:ext cx="822959" cy="182880"/>
          </a:xfrm>
          <a:prstGeom prst="rect">
            <a:avLst/>
          </a:prstGeom>
          <a:solidFill>
            <a:srgbClr val="25734E"/>
          </a:solidFill>
          <a:ln w="10160"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462272"/>
            <a:ext cx="117043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Ramp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4453128"/>
            <a:ext cx="1920240" cy="182880"/>
          </a:xfrm>
          <a:prstGeom prst="rect">
            <a:avLst/>
          </a:prstGeom>
          <a:solidFill>
            <a:srgbClr val="087E9C"/>
          </a:solidFill>
          <a:ln w="10160"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4818888"/>
            <a:ext cx="117043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Fuel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809744"/>
            <a:ext cx="2194560" cy="182880"/>
          </a:xfrm>
          <a:prstGeom prst="rect">
            <a:avLst/>
          </a:prstGeom>
          <a:solidFill>
            <a:srgbClr val="86530B"/>
          </a:solidFill>
          <a:ln w="10160">
            <a:solidFill>
              <a:srgbClr val="8653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486400" y="5212080"/>
            <a:ext cx="3291840" cy="0"/>
          </a:xfrm>
          <a:prstGeom prst="line">
            <a:avLst/>
          </a:prstGeom>
          <a:ln w="10160">
            <a:solidFill>
              <a:srgbClr val="BCC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86400" y="5175504"/>
            <a:ext cx="0" cy="73152"/>
          </a:xfrm>
          <a:prstGeom prst="line">
            <a:avLst/>
          </a:prstGeom>
          <a:ln w="8890">
            <a:solidFill>
              <a:srgbClr val="9A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40096" y="527608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798D"/>
                </a:solidFill>
                <a:latin typeface="Aptos"/>
              </a:rPr>
              <a:t>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" y="5175504"/>
            <a:ext cx="0" cy="73152"/>
          </a:xfrm>
          <a:prstGeom prst="line">
            <a:avLst/>
          </a:prstGeom>
          <a:ln w="8890">
            <a:solidFill>
              <a:srgbClr val="9A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63056" y="527608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798D"/>
                </a:solidFill>
                <a:latin typeface="Aptos"/>
              </a:rPr>
              <a:t>15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0" y="5175504"/>
            <a:ext cx="0" cy="73152"/>
          </a:xfrm>
          <a:prstGeom prst="line">
            <a:avLst/>
          </a:prstGeom>
          <a:ln w="8890">
            <a:solidFill>
              <a:srgbClr val="9A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986016" y="527608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798D"/>
                </a:solidFill>
                <a:latin typeface="Aptos"/>
              </a:rPr>
              <a:t>30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955279" y="5175504"/>
            <a:ext cx="0" cy="73152"/>
          </a:xfrm>
          <a:prstGeom prst="line">
            <a:avLst/>
          </a:prstGeom>
          <a:ln w="8890">
            <a:solidFill>
              <a:srgbClr val="9A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808975" y="527608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798D"/>
                </a:solidFill>
                <a:latin typeface="Aptos"/>
              </a:rPr>
              <a:t>45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78240" y="5175504"/>
            <a:ext cx="0" cy="73152"/>
          </a:xfrm>
          <a:prstGeom prst="line">
            <a:avLst/>
          </a:prstGeom>
          <a:ln w="8890">
            <a:solidFill>
              <a:srgbClr val="9A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631936" y="5276088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0798D"/>
                </a:solidFill>
                <a:latin typeface="Aptos"/>
              </a:rPr>
              <a:t>60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614416"/>
            <a:ext cx="10789920" cy="438912"/>
          </a:xfrm>
          <a:prstGeom prst="roundRect">
            <a:avLst/>
          </a:prstGeom>
          <a:solidFill>
            <a:srgbClr val="F8EEDC"/>
          </a:solidFill>
          <a:ln w="10160">
            <a:solidFill>
              <a:srgbClr val="E8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715000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6530B"/>
                </a:solidFill>
                <a:latin typeface="Aptos"/>
              </a:rPr>
              <a:t>Demo task times and crew counts. Not validated FBO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55C8E0"/>
                </a:solidFill>
                <a:latin typeface="Aptos"/>
              </a:rPr>
              <a:t>02  /  SEVEN-DAY PREPARATION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9EB1C1"/>
                </a:solidFill>
                <a:latin typeface="Aptos"/>
              </a:rPr>
              <a:t>THE INTELLIGENT FBO  · 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8FA"/>
                </a:solidFill>
                <a:latin typeface="Aptos Display"/>
              </a:rPr>
              <a:t>Compare a normal week with event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EB1C1"/>
                </a:solidFill>
                <a:latin typeface="Aptos"/>
              </a:rPr>
              <a:t>Same seeded profile. Three planning cases.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MON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7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093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6776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TUE</a:t>
            </a:r>
          </a:p>
        </p:txBody>
      </p:sp>
      <p:sp>
        <p:nvSpPr>
          <p:cNvPr id="15" name="Oval 14"/>
          <p:cNvSpPr/>
          <p:nvPr/>
        </p:nvSpPr>
        <p:spPr>
          <a:xfrm>
            <a:off x="1783080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38528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93976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237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51175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WED</a:t>
            </a:r>
          </a:p>
        </p:txBody>
      </p:sp>
      <p:sp>
        <p:nvSpPr>
          <p:cNvPr id="20" name="Oval 19"/>
          <p:cNvSpPr/>
          <p:nvPr/>
        </p:nvSpPr>
        <p:spPr>
          <a:xfrm>
            <a:off x="2697479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2927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08375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381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65575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THU</a:t>
            </a:r>
          </a:p>
        </p:txBody>
      </p:sp>
      <p:sp>
        <p:nvSpPr>
          <p:cNvPr id="25" name="Oval 24"/>
          <p:cNvSpPr/>
          <p:nvPr/>
        </p:nvSpPr>
        <p:spPr>
          <a:xfrm>
            <a:off x="3611879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67328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22776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25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9976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FRI</a:t>
            </a:r>
          </a:p>
        </p:txBody>
      </p:sp>
      <p:sp>
        <p:nvSpPr>
          <p:cNvPr id="30" name="Oval 29"/>
          <p:cNvSpPr/>
          <p:nvPr/>
        </p:nvSpPr>
        <p:spPr>
          <a:xfrm>
            <a:off x="4526280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81728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37176" y="2551176"/>
            <a:ext cx="64008" cy="6400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669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94376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SAT</a:t>
            </a:r>
          </a:p>
        </p:txBody>
      </p:sp>
      <p:sp>
        <p:nvSpPr>
          <p:cNvPr id="35" name="Oval 34"/>
          <p:cNvSpPr/>
          <p:nvPr/>
        </p:nvSpPr>
        <p:spPr>
          <a:xfrm>
            <a:off x="5440680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596128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51576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1344" y="2084831"/>
            <a:ext cx="749808" cy="685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8776" y="2295144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DCE6ED"/>
                </a:solidFill>
                <a:latin typeface="Aptos"/>
              </a:rPr>
              <a:t>SUN</a:t>
            </a:r>
          </a:p>
        </p:txBody>
      </p:sp>
      <p:sp>
        <p:nvSpPr>
          <p:cNvPr id="40" name="Oval 39"/>
          <p:cNvSpPr/>
          <p:nvPr/>
        </p:nvSpPr>
        <p:spPr>
          <a:xfrm>
            <a:off x="6355080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10528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65976" y="2551176"/>
            <a:ext cx="64008" cy="64008"/>
          </a:xfrm>
          <a:prstGeom prst="ellipse">
            <a:avLst/>
          </a:prstGeom>
          <a:solidFill>
            <a:srgbClr val="466071"/>
          </a:solidFill>
          <a:ln>
            <a:solidFill>
              <a:srgbClr val="46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154680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9EB1C1"/>
                </a:solidFill>
                <a:latin typeface="Aptos"/>
              </a:rPr>
              <a:t>NORMAL BASELINE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3136392"/>
            <a:ext cx="2011680" cy="310896"/>
          </a:xfrm>
          <a:prstGeom prst="rect">
            <a:avLst/>
          </a:prstGeom>
          <a:solidFill>
            <a:srgbClr val="416377"/>
          </a:solidFill>
          <a:ln w="10160">
            <a:solidFill>
              <a:srgbClr val="416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60" y="315468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8FA"/>
                </a:solidFill>
                <a:latin typeface="Aptos"/>
              </a:rPr>
              <a:t>1.00×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37673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9EB1C1"/>
                </a:solidFill>
                <a:latin typeface="Aptos"/>
              </a:rPr>
              <a:t>EVENT CASES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7764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55C8E0"/>
                </a:solidFill>
                <a:latin typeface="Aptos"/>
              </a:rPr>
              <a:t>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3730752"/>
            <a:ext cx="2313432" cy="274320"/>
          </a:xfrm>
          <a:prstGeom prst="rect">
            <a:avLst/>
          </a:prstGeom>
          <a:solidFill>
            <a:srgbClr val="55C8E0"/>
          </a:solidFill>
          <a:ln w="10160"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32704" y="37673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8FA"/>
                </a:solidFill>
                <a:latin typeface="Aptos"/>
              </a:rPr>
              <a:t>1.15×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" y="426110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E8A23B"/>
                </a:solidFill>
                <a:latin typeface="Aptos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4215384"/>
            <a:ext cx="2816352" cy="274320"/>
          </a:xfrm>
          <a:prstGeom prst="rect">
            <a:avLst/>
          </a:prstGeom>
          <a:solidFill>
            <a:srgbClr val="E8A23B"/>
          </a:solidFill>
          <a:ln w="10160"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2704" y="42519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8FA"/>
                </a:solidFill>
                <a:latin typeface="Aptos"/>
              </a:rPr>
              <a:t>1.40×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47457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60">
                <a:solidFill>
                  <a:srgbClr val="E97886"/>
                </a:solidFill>
                <a:latin typeface="Aptos"/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4700016"/>
            <a:ext cx="3419856" cy="274320"/>
          </a:xfrm>
          <a:prstGeom prst="rect">
            <a:avLst/>
          </a:prstGeom>
          <a:solidFill>
            <a:srgbClr val="E97886"/>
          </a:solidFill>
          <a:ln w="10160">
            <a:solidFill>
              <a:srgbClr val="E97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32704" y="47365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8FA"/>
                </a:solidFill>
                <a:latin typeface="Aptos"/>
              </a:rPr>
              <a:t>1.70×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75120" y="2057400"/>
            <a:ext cx="4663440" cy="2971800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2592" y="239572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9EB1C1"/>
                </a:solidFill>
                <a:latin typeface="Aptos"/>
              </a:rPr>
              <a:t>THE PLANNER COMPARES</a:t>
            </a:r>
          </a:p>
        </p:txBody>
      </p:sp>
      <p:sp>
        <p:nvSpPr>
          <p:cNvPr id="58" name="Oval 57"/>
          <p:cNvSpPr/>
          <p:nvPr/>
        </p:nvSpPr>
        <p:spPr>
          <a:xfrm>
            <a:off x="7059168" y="2944368"/>
            <a:ext cx="155448" cy="15544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88352" y="2898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A"/>
                </a:solidFill>
                <a:latin typeface="Aptos Display"/>
              </a:rPr>
              <a:t>7 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293522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EB1C1"/>
                </a:solidFill>
                <a:latin typeface="Aptos"/>
              </a:rPr>
              <a:t>ordinary vs. event</a:t>
            </a:r>
          </a:p>
        </p:txBody>
      </p:sp>
      <p:sp>
        <p:nvSpPr>
          <p:cNvPr id="61" name="Oval 60"/>
          <p:cNvSpPr/>
          <p:nvPr/>
        </p:nvSpPr>
        <p:spPr>
          <a:xfrm>
            <a:off x="7059168" y="3575303"/>
            <a:ext cx="155448" cy="155448"/>
          </a:xfrm>
          <a:prstGeom prst="ellipse">
            <a:avLst/>
          </a:prstGeom>
          <a:solidFill>
            <a:srgbClr val="E8A23B"/>
          </a:solidFill>
          <a:ln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8352" y="35295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A"/>
                </a:solidFill>
                <a:latin typeface="Aptos Display"/>
              </a:rPr>
              <a:t>3 cases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0" y="35661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EB1C1"/>
                </a:solidFill>
                <a:latin typeface="Aptos"/>
              </a:rPr>
              <a:t>low / medium / high</a:t>
            </a:r>
          </a:p>
        </p:txBody>
      </p:sp>
      <p:sp>
        <p:nvSpPr>
          <p:cNvPr id="64" name="Oval 63"/>
          <p:cNvSpPr/>
          <p:nvPr/>
        </p:nvSpPr>
        <p:spPr>
          <a:xfrm>
            <a:off x="7059168" y="4206240"/>
            <a:ext cx="155448" cy="155448"/>
          </a:xfrm>
          <a:prstGeom prst="ellipse">
            <a:avLst/>
          </a:prstGeom>
          <a:solidFill>
            <a:srgbClr val="65C89D"/>
          </a:solidFill>
          <a:ln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88352" y="41605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8FA"/>
                </a:solidFill>
                <a:latin typeface="Aptos Display"/>
              </a:rPr>
              <a:t>Shift needs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19709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EB1C1"/>
                </a:solidFill>
                <a:latin typeface="Aptos"/>
              </a:rPr>
              <a:t>role by role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2592" y="459028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9EB1C1"/>
                </a:solidFill>
                <a:latin typeface="Aptos"/>
              </a:rPr>
              <a:t>Scenario multipliers are assumptions, not forecasts.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573328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50">
                <a:solidFill>
                  <a:srgbClr val="9EB1C1"/>
                </a:solidFill>
                <a:latin typeface="Aptos"/>
              </a:rPr>
              <a:t>1.15×  /  1.40×  /  1.70×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57332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E8A23B"/>
                </a:solidFill>
                <a:latin typeface="Aptos"/>
              </a:rPr>
              <a:t>SYNTHETIC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55C8E0"/>
                </a:solidFill>
                <a:latin typeface="Aptos"/>
              </a:rPr>
              <a:t>03  /  DISRUPTION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9EB1C1"/>
                </a:solidFill>
                <a:latin typeface="Aptos"/>
              </a:rPr>
              <a:t>THE INTELLIGENT FBO  · 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8FA"/>
                </a:solidFill>
                <a:latin typeface="Aptos Display"/>
              </a:rPr>
              <a:t>Stress-test the plan before the rush.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EB1C1"/>
                </a:solidFill>
                <a:latin typeface="Aptos"/>
              </a:rPr>
              <a:t>A fixed demo scenario changes arrivals and crew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6"/>
            <a:ext cx="2743200" cy="2706624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9EB1C1"/>
                </a:solidFill>
                <a:latin typeface="Aptos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24912"/>
            <a:ext cx="21031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8FA"/>
                </a:solidFill>
                <a:latin typeface="Aptos Display"/>
              </a:rPr>
              <a:t>Original
staffing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069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EB1C1"/>
                </a:solidFill>
                <a:latin typeface="Aptos"/>
              </a:rPr>
              <a:t>Hold assignments fixed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39312" y="3419856"/>
            <a:ext cx="658368" cy="0"/>
          </a:xfrm>
          <a:prstGeom prst="line">
            <a:avLst/>
          </a:prstGeom>
          <a:ln w="30480">
            <a:solidFill>
              <a:srgbClr val="55C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60520" y="3291840"/>
            <a:ext cx="256032" cy="256032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35424" y="2048256"/>
            <a:ext cx="2971800" cy="2706624"/>
          </a:xfrm>
          <a:prstGeom prst="roundRect">
            <a:avLst/>
          </a:prstGeom>
          <a:solidFill>
            <a:srgbClr val="182D3D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3317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E8A23B"/>
                </a:solidFill>
                <a:latin typeface="Aptos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770632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A23B"/>
                </a:solidFill>
                <a:latin typeface="Aptos Display"/>
              </a:rPr>
              <a:t>+4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816351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aircraft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300984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A23B"/>
                </a:solidFill>
                <a:latin typeface="Aptos Display"/>
              </a:rPr>
              <a:t>−2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346703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ramp crew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831335"/>
            <a:ext cx="9326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A23B"/>
                </a:solidFill>
                <a:latin typeface="Aptos Display"/>
              </a:rPr>
              <a:t>+45m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87705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delays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32511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EB1C1"/>
                </a:solidFill>
                <a:latin typeface="Aptos"/>
              </a:rPr>
              <a:t>Next 3 expected arrivals delayed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17536" y="3419856"/>
            <a:ext cx="621791" cy="0"/>
          </a:xfrm>
          <a:prstGeom prst="line">
            <a:avLst/>
          </a:prstGeom>
          <a:ln w="30480">
            <a:solidFill>
              <a:srgbClr val="55C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0456" y="3291840"/>
            <a:ext cx="256032" cy="256032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86216" y="2048256"/>
            <a:ext cx="2743200" cy="2706624"/>
          </a:xfrm>
          <a:prstGeom prst="roundRect">
            <a:avLst/>
          </a:prstGeom>
          <a:solidFill>
            <a:srgbClr val="271D2A"/>
          </a:solidFill>
          <a:ln w="10160">
            <a:solidFill>
              <a:srgbClr val="613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233172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E97886"/>
                </a:solidFill>
                <a:latin typeface="Aptos"/>
              </a:rPr>
              <a:t>SEE THE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2724912"/>
            <a:ext cx="219456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8FA"/>
                </a:solidFill>
                <a:latin typeface="Aptos Display"/>
              </a:rPr>
              <a:t>Uncovered
service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4069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2B4BC"/>
                </a:solidFill>
                <a:latin typeface="Aptos"/>
              </a:rPr>
              <a:t>Then review a recovery 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85232"/>
            <a:ext cx="10643616" cy="566928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49824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5C8E0"/>
                </a:solidFill>
                <a:latin typeface="Aptos"/>
              </a:rPr>
              <a:t>Same disrupted demand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449824"/>
            <a:ext cx="13716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8FA"/>
                </a:solidFill>
                <a:latin typeface="Aptos"/>
              </a:rPr>
              <a:t>Original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41324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EB1C1"/>
                </a:solidFill>
                <a:latin typeface="Aptos"/>
              </a:rPr>
              <a:t>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5449824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8FA"/>
                </a:solidFill>
                <a:latin typeface="Aptos"/>
              </a:rPr>
              <a:t>Recovery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449824"/>
            <a:ext cx="26060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EB1C1"/>
                </a:solidFill>
                <a:latin typeface="Aptos"/>
              </a:rPr>
              <a:t>No preset improvement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087E9C"/>
                </a:solidFill>
                <a:latin typeface="Aptos"/>
              </a:rPr>
              <a:t>04  /  PLAN  ·  REVIEW  ·  DECIDE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D3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60798D"/>
                </a:solidFill>
                <a:latin typeface="Aptos"/>
              </a:rPr>
              <a:t>THE INTELLIGENT FBO  · 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2233"/>
                </a:solidFill>
                <a:latin typeface="Aptos Display"/>
              </a:rPr>
              <a:t>Recommend shifts. Keep the decision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0798D"/>
                </a:solidFill>
                <a:latin typeface="Aptos"/>
              </a:rPr>
              <a:t>Coverage, gaps, shifts, and labor cost—under the same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6492240" cy="2404872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1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677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60798D"/>
                </a:solidFill>
                <a:latin typeface="Aptos"/>
              </a:rPr>
              <a:t>24-HOUR ROSTER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4378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60798D"/>
                </a:solidFill>
                <a:latin typeface="Aptos"/>
              </a:rPr>
              <a:t>RAMP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816352"/>
            <a:ext cx="1307592" cy="256032"/>
          </a:xfrm>
          <a:prstGeom prst="rect">
            <a:avLst/>
          </a:prstGeom>
          <a:solidFill>
            <a:srgbClr val="087E9C"/>
          </a:solidFill>
          <a:ln w="10160"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79" y="2816352"/>
            <a:ext cx="1307592" cy="256032"/>
          </a:xfrm>
          <a:prstGeom prst="rect">
            <a:avLst/>
          </a:prstGeom>
          <a:solidFill>
            <a:srgbClr val="087E9C"/>
          </a:solidFill>
          <a:ln w="10160"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2816352"/>
            <a:ext cx="1307592" cy="256032"/>
          </a:xfrm>
          <a:prstGeom prst="rect">
            <a:avLst/>
          </a:prstGeom>
          <a:solidFill>
            <a:srgbClr val="087E9C"/>
          </a:solidFill>
          <a:ln w="10160"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82696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60798D"/>
                </a:solidFill>
                <a:latin typeface="Aptos"/>
              </a:rPr>
              <a:t>FUEL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255264"/>
            <a:ext cx="1307592" cy="256032"/>
          </a:xfrm>
          <a:prstGeom prst="rect">
            <a:avLst/>
          </a:prstGeom>
          <a:solidFill>
            <a:srgbClr val="86530B"/>
          </a:solidFill>
          <a:ln w="10160">
            <a:solidFill>
              <a:srgbClr val="8653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79" y="3255264"/>
            <a:ext cx="1307592" cy="256032"/>
          </a:xfrm>
          <a:prstGeom prst="rect">
            <a:avLst/>
          </a:prstGeom>
          <a:solidFill>
            <a:srgbClr val="86530B"/>
          </a:solidFill>
          <a:ln w="10160">
            <a:solidFill>
              <a:srgbClr val="8653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3255264"/>
            <a:ext cx="1307592" cy="256032"/>
          </a:xfrm>
          <a:prstGeom prst="rect">
            <a:avLst/>
          </a:prstGeom>
          <a:solidFill>
            <a:srgbClr val="86530B"/>
          </a:solidFill>
          <a:ln w="10160">
            <a:solidFill>
              <a:srgbClr val="8653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2160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60798D"/>
                </a:solidFill>
                <a:latin typeface="Aptos"/>
              </a:rPr>
              <a:t>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3694176"/>
            <a:ext cx="1307592" cy="256032"/>
          </a:xfrm>
          <a:prstGeom prst="rect">
            <a:avLst/>
          </a:prstGeom>
          <a:solidFill>
            <a:srgbClr val="25734E"/>
          </a:solidFill>
          <a:ln w="10160"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79" y="3694176"/>
            <a:ext cx="1307592" cy="256032"/>
          </a:xfrm>
          <a:prstGeom prst="rect">
            <a:avLst/>
          </a:prstGeom>
          <a:solidFill>
            <a:srgbClr val="25734E"/>
          </a:solidFill>
          <a:ln w="10160"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3694176"/>
            <a:ext cx="1307592" cy="256032"/>
          </a:xfrm>
          <a:prstGeom prst="rect">
            <a:avLst/>
          </a:prstGeom>
          <a:solidFill>
            <a:srgbClr val="25734E"/>
          </a:solidFill>
          <a:ln w="10160">
            <a:solidFill>
              <a:srgbClr val="25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75104" y="42153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00–08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42153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08–16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42153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98D"/>
                </a:solidFill>
                <a:latin typeface="Aptos"/>
              </a:rPr>
              <a:t>16–24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993392"/>
            <a:ext cx="3840480" cy="2404872"/>
          </a:xfrm>
          <a:prstGeom prst="roundRect">
            <a:avLst/>
          </a:prstGeom>
          <a:solidFill>
            <a:srgbClr val="102233"/>
          </a:solidFill>
          <a:ln w="10160">
            <a:solidFill>
              <a:srgbClr val="10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1" y="226771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55C8E0"/>
                </a:solidFill>
                <a:latin typeface="Aptos"/>
              </a:rPr>
              <a:t>PLAN COMPARISON</a:t>
            </a:r>
          </a:p>
        </p:txBody>
      </p:sp>
      <p:sp>
        <p:nvSpPr>
          <p:cNvPr id="27" name="Oval 26"/>
          <p:cNvSpPr/>
          <p:nvPr/>
        </p:nvSpPr>
        <p:spPr>
          <a:xfrm>
            <a:off x="7827264" y="2811780"/>
            <a:ext cx="109728" cy="109728"/>
          </a:xfrm>
          <a:prstGeom prst="ellipse">
            <a:avLst/>
          </a:prstGeom>
          <a:solidFill>
            <a:srgbClr val="55C8E0"/>
          </a:solidFill>
          <a:ln>
            <a:solidFill>
              <a:srgbClr val="55C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76148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Work coverage</a:t>
            </a:r>
          </a:p>
        </p:txBody>
      </p:sp>
      <p:sp>
        <p:nvSpPr>
          <p:cNvPr id="29" name="Oval 28"/>
          <p:cNvSpPr/>
          <p:nvPr/>
        </p:nvSpPr>
        <p:spPr>
          <a:xfrm>
            <a:off x="7827264" y="3259836"/>
            <a:ext cx="109728" cy="109728"/>
          </a:xfrm>
          <a:prstGeom prst="ellipse">
            <a:avLst/>
          </a:prstGeom>
          <a:solidFill>
            <a:srgbClr val="E97886"/>
          </a:solidFill>
          <a:ln>
            <a:solidFill>
              <a:srgbClr val="E97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3209544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Uncovered staff-hours</a:t>
            </a:r>
          </a:p>
        </p:txBody>
      </p:sp>
      <p:sp>
        <p:nvSpPr>
          <p:cNvPr id="31" name="Oval 30"/>
          <p:cNvSpPr/>
          <p:nvPr/>
        </p:nvSpPr>
        <p:spPr>
          <a:xfrm>
            <a:off x="7827264" y="3707891"/>
            <a:ext cx="109728" cy="109728"/>
          </a:xfrm>
          <a:prstGeom prst="ellipse">
            <a:avLst/>
          </a:prstGeom>
          <a:solidFill>
            <a:srgbClr val="E8A23B"/>
          </a:solidFill>
          <a:ln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3657600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Shift count + labor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8975" y="4050791"/>
            <a:ext cx="31089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Skills  ·  breaks  ·  hours  ·  rest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55080" y="4901184"/>
            <a:ext cx="0" cy="338328"/>
          </a:xfrm>
          <a:prstGeom prst="line">
            <a:avLst/>
          </a:prstGeom>
          <a:ln w="25400">
            <a:solidFill>
              <a:srgbClr val="087E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245352" y="5120640"/>
            <a:ext cx="219456" cy="219456"/>
          </a:xfrm>
          <a:prstGeom prst="ellipse">
            <a:avLst/>
          </a:prstGeom>
          <a:solidFill>
            <a:srgbClr val="087E9C"/>
          </a:solidFill>
          <a:ln>
            <a:solidFill>
              <a:srgbClr val="087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31720" y="5422392"/>
            <a:ext cx="8046720" cy="603504"/>
          </a:xfrm>
          <a:prstGeom prst="roundRect">
            <a:avLst/>
          </a:prstGeom>
          <a:solidFill>
            <a:srgbClr val="102233"/>
          </a:solidFill>
          <a:ln w="10160">
            <a:solidFill>
              <a:srgbClr val="10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5623560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75">
                <a:solidFill>
                  <a:srgbClr val="55C8E0"/>
                </a:solidFill>
                <a:latin typeface="Aptos"/>
              </a:rPr>
              <a:t>MANAGER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5586984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8FA"/>
                </a:solidFill>
                <a:latin typeface="Aptos Display"/>
              </a:rPr>
              <a:t>Approve  /  Reject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63270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EB1C1"/>
                </a:solidFill>
                <a:latin typeface="Aptos"/>
              </a:rPr>
              <a:t>No dispatch. No aircraft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55C8E0"/>
                </a:solidFill>
                <a:latin typeface="Aptos"/>
              </a:rPr>
              <a:t>05  /  WHAT WE KNOW  ·  WHAT WE NEED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8890">
            <a:solidFill>
              <a:srgbClr val="2B43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9EB1C1"/>
                </a:solidFill>
                <a:latin typeface="Aptos"/>
              </a:rPr>
              <a:t>THE INTELLIGENT FBO  · 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967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EB1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0467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8FA"/>
                </a:solidFill>
                <a:latin typeface="Aptos Display"/>
              </a:rPr>
              <a:t>Useful prototype. Not a validated forecast.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56231"/>
            <a:ext cx="5230368" cy="3255264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856231"/>
            <a:ext cx="5230368" cy="3255264"/>
          </a:xfrm>
          <a:prstGeom prst="roundRect">
            <a:avLst/>
          </a:prstGeom>
          <a:solidFill>
            <a:srgbClr val="122332"/>
          </a:solidFill>
          <a:ln w="10160">
            <a:solidFill>
              <a:srgbClr val="2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9456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65C89D"/>
                </a:solidFill>
                <a:latin typeface="Aptos"/>
              </a:rPr>
              <a:t>WORKS IN THE DEMO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706624"/>
            <a:ext cx="118872" cy="118872"/>
          </a:xfrm>
          <a:prstGeom prst="ellipse">
            <a:avLst/>
          </a:prstGeom>
          <a:solidFill>
            <a:srgbClr val="65C89D"/>
          </a:solidFill>
          <a:ln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670048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Seven-day ordinary / event comparison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154680"/>
            <a:ext cx="118872" cy="118872"/>
          </a:xfrm>
          <a:prstGeom prst="ellipse">
            <a:avLst/>
          </a:prstGeom>
          <a:solidFill>
            <a:srgbClr val="65C89D"/>
          </a:solidFill>
          <a:ln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118104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Low, medium, high demand cases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602736"/>
            <a:ext cx="118872" cy="118872"/>
          </a:xfrm>
          <a:prstGeom prst="ellipse">
            <a:avLst/>
          </a:prstGeom>
          <a:solidFill>
            <a:srgbClr val="65C89D"/>
          </a:solidFill>
          <a:ln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566160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Shift gaps + disruption recovery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4050791"/>
            <a:ext cx="118872" cy="118872"/>
          </a:xfrm>
          <a:prstGeom prst="ellipse">
            <a:avLst/>
          </a:prstGeom>
          <a:solidFill>
            <a:srgbClr val="65C89D"/>
          </a:solidFill>
          <a:ln>
            <a:solidFill>
              <a:srgbClr val="65C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4014215"/>
            <a:ext cx="4069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Manager review and decision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E8A23B"/>
                </a:solidFill>
                <a:latin typeface="Aptos"/>
              </a:rPr>
              <a:t>STILL NEEDS PROOF</a:t>
            </a:r>
          </a:p>
        </p:txBody>
      </p:sp>
      <p:sp>
        <p:nvSpPr>
          <p:cNvPr id="19" name="Oval 18"/>
          <p:cNvSpPr/>
          <p:nvPr/>
        </p:nvSpPr>
        <p:spPr>
          <a:xfrm>
            <a:off x="6565392" y="2706624"/>
            <a:ext cx="118872" cy="118872"/>
          </a:xfrm>
          <a:prstGeom prst="ellipse">
            <a:avLst/>
          </a:prstGeom>
          <a:solidFill>
            <a:srgbClr val="E8A23B"/>
          </a:solidFill>
          <a:ln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670048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Observed LA FBO arrival + service data</a:t>
            </a:r>
          </a:p>
        </p:txBody>
      </p:sp>
      <p:sp>
        <p:nvSpPr>
          <p:cNvPr id="21" name="Oval 20"/>
          <p:cNvSpPr/>
          <p:nvPr/>
        </p:nvSpPr>
        <p:spPr>
          <a:xfrm>
            <a:off x="6565392" y="3154680"/>
            <a:ext cx="118872" cy="118872"/>
          </a:xfrm>
          <a:prstGeom prst="ellipse">
            <a:avLst/>
          </a:prstGeom>
          <a:solidFill>
            <a:srgbClr val="E8A23B"/>
          </a:solidFill>
          <a:ln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11810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Forecast accuracy on real holdout data</a:t>
            </a:r>
          </a:p>
        </p:txBody>
      </p:sp>
      <p:sp>
        <p:nvSpPr>
          <p:cNvPr id="23" name="Oval 22"/>
          <p:cNvSpPr/>
          <p:nvPr/>
        </p:nvSpPr>
        <p:spPr>
          <a:xfrm>
            <a:off x="6565392" y="3602736"/>
            <a:ext cx="118872" cy="118872"/>
          </a:xfrm>
          <a:prstGeom prst="ellipse">
            <a:avLst/>
          </a:prstGeom>
          <a:solidFill>
            <a:srgbClr val="E8A23B"/>
          </a:solidFill>
          <a:ln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56616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Operator review of tasks and labor rules</a:t>
            </a:r>
          </a:p>
        </p:txBody>
      </p:sp>
      <p:sp>
        <p:nvSpPr>
          <p:cNvPr id="25" name="Oval 24"/>
          <p:cNvSpPr/>
          <p:nvPr/>
        </p:nvSpPr>
        <p:spPr>
          <a:xfrm>
            <a:off x="6565392" y="4050791"/>
            <a:ext cx="118872" cy="118872"/>
          </a:xfrm>
          <a:prstGeom prst="ellipse">
            <a:avLst/>
          </a:prstGeom>
          <a:solidFill>
            <a:srgbClr val="E8A23B"/>
          </a:solidFill>
          <a:ln>
            <a:solidFill>
              <a:srgbClr val="E8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014215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8FA"/>
                </a:solidFill>
                <a:latin typeface="Aptos"/>
              </a:rPr>
              <a:t>Measured service and resource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681728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65">
                <a:solidFill>
                  <a:srgbClr val="9EB1C1"/>
                </a:solidFill>
                <a:latin typeface="Aptos"/>
              </a:rPr>
              <a:t>SYNTHETIC DEMO · NO PASSENGER IDENTITY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681728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EB1C1"/>
                </a:solidFill>
                <a:latin typeface="Aptos"/>
              </a:rPr>
              <a:t>Next: validate demand → back-test → 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864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8A23B"/>
                </a:solidFill>
                <a:latin typeface="Aptos Display"/>
              </a:rPr>
              <a:t>AI assists. People decide.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641848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9EB1C1"/>
                </a:solidFill>
                <a:latin typeface="Aptos"/>
              </a:rPr>
              <a:t>CREWPILOT AI  /  STAFFING-ONLY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CrewPilot AI — The Intelligent FBO</dc:title>
  <dc:subject>Track 1 staffing planning prototype</dc:subject>
  <dc:creator>CrewPilot AI</dc:creator>
  <cp:keywords>NCBAA, SpartHill Hacks, staffing, FBO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